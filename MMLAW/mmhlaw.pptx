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F6B3E-0C64-9B73-5D40-2970555B0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AF18A-3B9F-E0A2-E0D8-00662EE18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65DDC-0641-8027-D697-DA3F2A511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C9E7-A08D-4901-BA76-0BD35A4BDA3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425BB-4A26-56EC-88B8-E5BA3E338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70603-E025-A67C-FE25-2AB8D4ED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4709-8D23-4B34-92E7-C7403F597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9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B19F7-F6B4-20C1-4A71-4AB2BDB90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4E049-FD14-57F7-2750-DF0DE862A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9A09A-89EE-399F-568D-0CA44F92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C9E7-A08D-4901-BA76-0BD35A4BDA3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C54-F8AD-47E8-9B1B-8EAF95E9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6EF3B-6F09-AFB7-7E5E-A87F73F4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4709-8D23-4B34-92E7-C7403F597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46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5ED05-4AD5-0145-5606-1E2C9ED74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3CC8D-2B49-11C9-4A1F-099A8B3EC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B8909-8987-AC6C-F8F4-DD697F42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C9E7-A08D-4901-BA76-0BD35A4BDA3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31D69-34DB-F09C-7CEB-1B82DEBBE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6DFF4-7E94-8C52-6892-E92862F99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4709-8D23-4B34-92E7-C7403F597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17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7A1D1-6567-F38B-BB4D-C078D0AA2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C5BA0-791B-7F69-F885-68DA3F29A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F0516-6B99-93C9-993A-257445B50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17724-0175-E68B-224F-92099490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C9E7-A08D-4901-BA76-0BD35A4BDA3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BAEAB-0E83-A996-4D72-6BC6C0B48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52FDF-6272-8234-C29E-47E719C2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4709-8D23-4B34-92E7-C7403F597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7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849D-1737-BD82-15D2-EE69A68C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6B89A-D3D9-CDD9-59E4-EB60B32A3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E7D6-2EB0-9BFB-571F-DB79B21B8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468DB-3A75-273D-996A-0FF33E04D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5011B2-EF2D-CBBB-795A-AC3FB24DE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22C18-C32A-8154-D377-2128CD69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C9E7-A08D-4901-BA76-0BD35A4BDA3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DBD82-3678-CFCF-C153-F2D0B7607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E14CB-B45C-F02D-4FA5-7094F105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4709-8D23-4B34-92E7-C7403F597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2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FEC22-D4B8-A52F-56B5-BAA0636B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75AA8-84C8-BF7E-A4D0-FCC5712D2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C9E7-A08D-4901-BA76-0BD35A4BDA3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07D4A-7C03-5529-2A02-CF334E86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C41F7-362B-14A1-210F-E694CAC0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4709-8D23-4B34-92E7-C7403F597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57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33134E-087D-1870-1C7F-ECA3623EE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C9E7-A08D-4901-BA76-0BD35A4BDA3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C6C16-861A-42CD-B63B-2B4776351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C12B3-4D60-7D6C-1DB8-9BB34B9FC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4709-8D23-4B34-92E7-C7403F597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3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93E4B-D6CC-64CC-057D-F2EB51387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E632F-5662-A559-0EF3-4D02663E0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FAB17-31D6-C2ED-9E59-8BD497E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BA45F-18BE-A517-B12A-561E85277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C9E7-A08D-4901-BA76-0BD35A4BDA3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64954-81A4-BB99-9E86-23819486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C28B4-93AA-28DF-58AC-0AAC31D3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4709-8D23-4B34-92E7-C7403F597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80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8AE8-A52F-228F-9C11-BED5DE6D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14FFDB-304D-4EC8-A190-583F47B15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8CFE9-8B54-BCC4-0FE7-63DEFC221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DD17B-FC9E-945F-A9C4-4B9ED4876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C9E7-A08D-4901-BA76-0BD35A4BDA3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5114C-6D0C-F8FC-E9FC-06ACE6CE2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EA17C-510A-4E08-8D44-517A6F75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4709-8D23-4B34-92E7-C7403F597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84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A1B4B-7A8C-C6FC-2132-A0338645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69434-9661-E28E-845C-18C3B39E1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804C9-F476-D206-7880-9CFD74C20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C9E7-A08D-4901-BA76-0BD35A4BDA3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99A9-88DF-76F4-5886-775EFE16E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D2A42-ED84-EBE3-8F3C-71C4758F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4709-8D23-4B34-92E7-C7403F597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5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5C59F-31FF-3A4A-ABB0-0335BB8AC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47B82-DE1A-07D3-5421-654A4DD38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7096D-85B6-F60F-4AC8-23B2578F2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C9E7-A08D-4901-BA76-0BD35A4BDA3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61626-83F6-DE37-4876-08D3BDF1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9FACD-0888-6167-51BF-AE723D822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4709-8D23-4B34-92E7-C7403F597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9FD65-9AE8-1CC0-E32B-C977F3CC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AC8F4-0A2B-4E0B-1FC3-ED349596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DE3D1-B30F-F44C-EECD-95512E212E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7C9E7-A08D-4901-BA76-0BD35A4BDA3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5EBA9-7D28-775D-852E-9A934A463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C15CF-6EC3-C3BB-0FB7-F2E766CC1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B4709-8D23-4B34-92E7-C7403F597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97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DAFFB-CF7E-3EC8-507B-3063FC3E1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80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C1665-B3FB-723C-70F5-460D51030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799DB62-B42D-D045-2C66-26636101240B}"/>
              </a:ext>
            </a:extLst>
          </p:cNvPr>
          <p:cNvSpPr txBox="1"/>
          <p:nvPr/>
        </p:nvSpPr>
        <p:spPr>
          <a:xfrm>
            <a:off x="719666" y="124249"/>
            <a:ext cx="5477933" cy="6609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/>
              <a:t>Tienes razón, vamos a elevar el nivel. Si quieres que una firma de abogados de este calibre suelte el presupuesto, no puedes hablarles como un programador, tienes que hablarles como un </a:t>
            </a:r>
            <a:r>
              <a:rPr lang="es-ES" sz="1050" b="1" dirty="0"/>
              <a:t>estratega de activos digitales</a:t>
            </a:r>
            <a:r>
              <a:rPr lang="es-ES" sz="1050" dirty="0"/>
              <a:t>.</a:t>
            </a:r>
          </a:p>
          <a:p>
            <a:r>
              <a:rPr lang="es-ES" sz="1050" dirty="0"/>
              <a:t>Aquí tienes la narrativa completa, redactada con autoridad, elegancia y un toque de urgencia técnica.</a:t>
            </a:r>
          </a:p>
          <a:p>
            <a:br>
              <a:rPr lang="es-ES" sz="1050" dirty="0"/>
            </a:br>
            <a:endParaRPr lang="es-ES" sz="1050" dirty="0"/>
          </a:p>
          <a:p>
            <a:r>
              <a:rPr lang="es-ES" sz="1050" b="1" dirty="0"/>
              <a:t>Propuesta de Modernización de Infraestructura y Reputación Digital</a:t>
            </a:r>
          </a:p>
          <a:p>
            <a:r>
              <a:rPr lang="es-ES" sz="1050" b="1" dirty="0"/>
              <a:t>A la atención de los Socios Directores de Murray, Morin &amp; Herman, P.A.</a:t>
            </a:r>
          </a:p>
          <a:p>
            <a:endParaRPr lang="es-ES" sz="1050" dirty="0"/>
          </a:p>
          <a:p>
            <a:r>
              <a:rPr lang="es-ES" sz="1050" dirty="0"/>
              <a:t>Buenos días,</a:t>
            </a:r>
          </a:p>
          <a:p>
            <a:r>
              <a:rPr lang="es-ES" sz="1050" dirty="0"/>
              <a:t>Me dirijo a ustedes tras realizar una auditoría técnica profunda de su presencia digital actual. Como especialista en arquitectura web y diseño estratégico, mi objetivo no es simplemente ofrecerles un cambio estético, sino resolver una serie de </a:t>
            </a:r>
            <a:r>
              <a:rPr lang="es-ES" sz="1050" b="1" dirty="0"/>
              <a:t>deficiencias críticas</a:t>
            </a:r>
            <a:r>
              <a:rPr lang="es-ES" sz="1050" dirty="0"/>
              <a:t> que actualmente están comprometiendo el prestigio de la firma y su capacidad de captación de clientes de alto nivel.</a:t>
            </a:r>
          </a:p>
          <a:p>
            <a:r>
              <a:rPr lang="es-ES" sz="1050" dirty="0"/>
              <a:t>Tras analizar el rendimiento y la estructura de </a:t>
            </a:r>
            <a:r>
              <a:rPr lang="es-ES" sz="1050" b="1" dirty="0"/>
              <a:t>mmhlaw.com</a:t>
            </a:r>
            <a:r>
              <a:rPr lang="es-ES" sz="1050" dirty="0"/>
              <a:t>, he detectado fallos estructurales que requieren una intervención inmediata:</a:t>
            </a:r>
          </a:p>
          <a:p>
            <a:r>
              <a:rPr lang="es-ES" sz="1050" b="1" dirty="0"/>
              <a:t>1. Crisis de Identidad y Visibilidad (SEO)</a:t>
            </a:r>
          </a:p>
          <a:p>
            <a:r>
              <a:rPr lang="es-ES" sz="1050" dirty="0"/>
              <a:t>El sitio web actual está operando "a ciegas" ante los motores de búsqueda. Debido a errores graves en la configuración de su plataforma actual, el título de la firma en Google aparece simplemente como un guion (</a:t>
            </a:r>
            <a:r>
              <a:rPr lang="es-ES" sz="1050" b="1" dirty="0"/>
              <a:t>-</a:t>
            </a:r>
            <a:r>
              <a:rPr lang="es-ES" sz="1050" dirty="0"/>
              <a:t>). Esto no solo los hace invisibles frente a competidores en Miami y Tampa, sino que proyecta una imagen de descuido técnico ante cualquier cliente corporativo que intente verificar sus credenciales online.</a:t>
            </a:r>
          </a:p>
          <a:p>
            <a:r>
              <a:rPr lang="es-ES" sz="1050" b="1" dirty="0"/>
              <a:t>2. Fugas de Seguridad y Reputación de Dominio</a:t>
            </a:r>
          </a:p>
          <a:p>
            <a:r>
              <a:rPr lang="es-ES" sz="1050" dirty="0"/>
              <a:t>He detectado que enlaces vitales de su página principal redirigen a los usuarios a servidores de prueba externos no seguros (</a:t>
            </a:r>
            <a:r>
              <a:rPr lang="es-ES" sz="1400" dirty="0"/>
              <a:t>staug.pagmiami.com</a:t>
            </a:r>
            <a:r>
              <a:rPr lang="es-ES" sz="1050" dirty="0"/>
              <a:t>). Cuando un cliente potencial hace clic en "</a:t>
            </a:r>
            <a:r>
              <a:rPr lang="es-ES" sz="1050" dirty="0" err="1"/>
              <a:t>Get</a:t>
            </a:r>
            <a:r>
              <a:rPr lang="es-ES" sz="1050" dirty="0"/>
              <a:t> </a:t>
            </a:r>
            <a:r>
              <a:rPr lang="es-ES" sz="1050" dirty="0" err="1"/>
              <a:t>to</a:t>
            </a:r>
            <a:r>
              <a:rPr lang="es-ES" sz="1050" dirty="0"/>
              <a:t> </a:t>
            </a:r>
            <a:r>
              <a:rPr lang="es-ES" sz="1050" dirty="0" err="1"/>
              <a:t>Know</a:t>
            </a:r>
            <a:r>
              <a:rPr lang="es-ES" sz="1050" dirty="0"/>
              <a:t> </a:t>
            </a:r>
            <a:r>
              <a:rPr lang="es-ES" sz="1050" dirty="0" err="1"/>
              <a:t>Us</a:t>
            </a:r>
            <a:r>
              <a:rPr lang="es-ES" sz="1050" dirty="0"/>
              <a:t>" y recibe una advertencia de </a:t>
            </a:r>
            <a:r>
              <a:rPr lang="es-ES" sz="1050" b="1" dirty="0"/>
              <a:t>"Sitio No Seguro"</a:t>
            </a:r>
            <a:r>
              <a:rPr lang="es-ES" sz="1050" dirty="0"/>
              <a:t>, la confianza en la firma se rompe en segundos. Estamos enviando su tráfico a un entorno vulnerable que no refleja la seguridad y confidencialidad que ustedes garantizan en sus litigios.</a:t>
            </a:r>
          </a:p>
          <a:p>
            <a:r>
              <a:rPr lang="es-ES" sz="1050" b="1" dirty="0"/>
              <a:t>3. Obsolescencia Tecnológica: El fin de la era WordPress</a:t>
            </a:r>
          </a:p>
          <a:p>
            <a:r>
              <a:rPr lang="es-ES" sz="1050" dirty="0"/>
              <a:t>Su sitio actual corre sobre WordPress, un sistema que hoy resulta pesado, lento y vulnerable. El código está saturado de procesos innecesarios que ralentizan la carga y generan errores visibles (como códigos rotos en sus páginas de práctica). Mi propuesta es migrar la firma hacia </a:t>
            </a:r>
            <a:r>
              <a:rPr lang="es-ES" sz="1050" b="1" dirty="0" err="1"/>
              <a:t>React</a:t>
            </a:r>
            <a:r>
              <a:rPr lang="es-ES" sz="1050" b="1" dirty="0"/>
              <a:t>/Next.js</a:t>
            </a:r>
            <a:r>
              <a:rPr lang="es-ES" sz="1050" dirty="0"/>
              <a:t>, la tecnología de vanguardia utilizada por las empresas del </a:t>
            </a:r>
            <a:r>
              <a:rPr lang="es-ES" sz="1050" dirty="0" err="1"/>
              <a:t>Fortune</a:t>
            </a:r>
            <a:r>
              <a:rPr lang="es-ES" sz="1050" dirty="0"/>
              <a:t> 500. Esto garantiza:</a:t>
            </a:r>
          </a:p>
          <a:p>
            <a:r>
              <a:rPr lang="es-ES" sz="1050" b="1" dirty="0"/>
              <a:t>Velocidad Instantánea:</a:t>
            </a:r>
            <a:r>
              <a:rPr lang="es-ES" sz="1050" dirty="0"/>
              <a:t> Una web que carga en milisegundos, fundamental para el prestigio y el ranking orgánico.</a:t>
            </a:r>
          </a:p>
          <a:p>
            <a:r>
              <a:rPr lang="es-ES" sz="1050" b="1" dirty="0"/>
              <a:t>Inmunidad Técnica:</a:t>
            </a:r>
            <a:r>
              <a:rPr lang="es-ES" sz="1050" dirty="0"/>
              <a:t> Eliminación total de virus, hackeos y actualizaciones de </a:t>
            </a:r>
            <a:r>
              <a:rPr lang="es-ES" sz="1050" dirty="0" err="1"/>
              <a:t>plugins</a:t>
            </a:r>
            <a:r>
              <a:rPr lang="es-ES" sz="1050" dirty="0"/>
              <a:t> que suelen romper los sitios de abogados.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0936F6-5673-F945-55D1-539FA94DC7A8}"/>
              </a:ext>
            </a:extLst>
          </p:cNvPr>
          <p:cNvSpPr txBox="1"/>
          <p:nvPr/>
        </p:nvSpPr>
        <p:spPr>
          <a:xfrm>
            <a:off x="6172200" y="124249"/>
            <a:ext cx="5477933" cy="4778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/>
              <a:t>El diseño actual de su sitio utiliza una estructura de "cajones" y plantillas prefabricadas que proyecta una imagen estática y anticuada.</a:t>
            </a:r>
          </a:p>
          <a:p>
            <a:r>
              <a:rPr lang="es-ES" sz="1050" b="1" dirty="0"/>
              <a:t>El "Look" de 2012:</a:t>
            </a:r>
            <a:r>
              <a:rPr lang="es-ES" sz="1050" dirty="0"/>
              <a:t> El uso de barras laterales, menús rígidos y tipografías estándar de sistema (</a:t>
            </a:r>
            <a:r>
              <a:rPr lang="es-ES" sz="1050" dirty="0" err="1"/>
              <a:t>Roboto</a:t>
            </a:r>
            <a:r>
              <a:rPr lang="es-ES" sz="1050" dirty="0"/>
              <a:t>/</a:t>
            </a:r>
            <a:r>
              <a:rPr lang="es-ES" sz="1050" dirty="0" err="1"/>
              <a:t>Slab</a:t>
            </a:r>
            <a:r>
              <a:rPr lang="es-ES" sz="1050" dirty="0"/>
              <a:t>) sin jerarquía visual moderna hace que la firma parezca anclada en el pasado.</a:t>
            </a:r>
          </a:p>
          <a:p>
            <a:r>
              <a:rPr lang="es-ES" sz="1050" b="1" dirty="0"/>
              <a:t>Iconografía Genérica:</a:t>
            </a:r>
            <a:r>
              <a:rPr lang="es-ES" sz="1050" dirty="0"/>
              <a:t> Los iconos actuales carecen de identidad propia. Son recursos estándar que no transmiten la especificidad de nichos tan complejos como la </a:t>
            </a:r>
            <a:r>
              <a:rPr lang="es-ES" sz="1050" b="1" dirty="0"/>
              <a:t>Aviación o el Derecho de Construcción</a:t>
            </a:r>
            <a:r>
              <a:rPr lang="es-ES" sz="1050" dirty="0"/>
              <a:t>.</a:t>
            </a:r>
          </a:p>
          <a:p>
            <a:r>
              <a:rPr lang="es-ES" sz="1050" b="1" dirty="0"/>
              <a:t>Falta de "Air" (Espacio Blanco):</a:t>
            </a:r>
            <a:r>
              <a:rPr lang="es-ES" sz="1050" dirty="0"/>
              <a:t> La web está saturada de información mal distribuida, lo que genera fatiga visual. En el diseño moderno, el espacio blanco es sinónimo de </a:t>
            </a:r>
            <a:r>
              <a:rPr lang="es-ES" sz="1050" b="1" dirty="0"/>
              <a:t>lujo, claridad y orden</a:t>
            </a:r>
            <a:r>
              <a:rPr lang="es-ES" sz="1050" dirty="0"/>
              <a:t>.</a:t>
            </a:r>
          </a:p>
          <a:p>
            <a:r>
              <a:rPr lang="es-ES" sz="1050" b="1" dirty="0"/>
              <a:t>2. Calidad de Imagen y Activos Visuales (Retina </a:t>
            </a:r>
            <a:r>
              <a:rPr lang="es-ES" sz="1050" b="1" dirty="0" err="1"/>
              <a:t>Ready</a:t>
            </a:r>
            <a:r>
              <a:rPr lang="es-ES" sz="1050" b="1" dirty="0"/>
              <a:t>)</a:t>
            </a:r>
          </a:p>
          <a:p>
            <a:r>
              <a:rPr lang="es-ES" sz="1050" dirty="0"/>
              <a:t>El sitio actual falla en la resolución. En pantallas modernas (iPhone, MacBook, monitores 4K), las imágenes de su web se ven </a:t>
            </a:r>
            <a:r>
              <a:rPr lang="es-ES" sz="1050" b="1" dirty="0"/>
              <a:t>pixeladas y borrosas</a:t>
            </a:r>
            <a:r>
              <a:rPr lang="es-ES" sz="1050" dirty="0"/>
              <a:t>.</a:t>
            </a:r>
          </a:p>
          <a:p>
            <a:r>
              <a:rPr lang="es-ES" sz="1050" b="1" dirty="0"/>
              <a:t>Propuesta de Fotografía de Autor:</a:t>
            </a:r>
            <a:r>
              <a:rPr lang="es-ES" sz="1050" dirty="0"/>
              <a:t> Sustituiremos el "Stock </a:t>
            </a:r>
            <a:r>
              <a:rPr lang="es-ES" sz="1050" dirty="0" err="1"/>
              <a:t>Photo</a:t>
            </a:r>
            <a:r>
              <a:rPr lang="es-ES" sz="1050" dirty="0"/>
              <a:t>" barato por fotografía de alta velocidad y profundidad de campo. Imágenes en formato </a:t>
            </a:r>
            <a:r>
              <a:rPr lang="es-ES" sz="1050" b="1" dirty="0" err="1"/>
              <a:t>WebP</a:t>
            </a:r>
            <a:r>
              <a:rPr lang="es-ES" sz="1050" b="1" dirty="0"/>
              <a:t> de nueva generación</a:t>
            </a:r>
            <a:r>
              <a:rPr lang="es-ES" sz="1050" dirty="0"/>
              <a:t> que mantienen una nitidez quirúrgica sin sacrificar la velocidad de carga.</a:t>
            </a:r>
          </a:p>
          <a:p>
            <a:r>
              <a:rPr lang="es-ES" sz="1050" b="1" dirty="0"/>
              <a:t>Psicología del Color:</a:t>
            </a:r>
            <a:r>
              <a:rPr lang="es-ES" sz="1050" dirty="0"/>
              <a:t> Implementaremos una paleta de colores "Deep </a:t>
            </a:r>
            <a:r>
              <a:rPr lang="es-ES" sz="1050" dirty="0" err="1"/>
              <a:t>Corporate</a:t>
            </a:r>
            <a:r>
              <a:rPr lang="es-ES" sz="1050" dirty="0"/>
              <a:t>": Azules Oxford profundos, grises carbón y acentos en </a:t>
            </a:r>
            <a:r>
              <a:rPr lang="es-ES" sz="1050" b="1" dirty="0"/>
              <a:t>Oro Viejo mate</a:t>
            </a:r>
            <a:r>
              <a:rPr lang="es-ES" sz="1050" dirty="0"/>
              <a:t>. Esta combinación transmite estabilidad, poder y tradición, pero con un acabado moderno.</a:t>
            </a:r>
          </a:p>
          <a:p>
            <a:r>
              <a:rPr lang="es-ES" sz="1050" b="1" dirty="0"/>
              <a:t>Iconografía </a:t>
            </a:r>
            <a:r>
              <a:rPr lang="es-ES" sz="1050" b="1" dirty="0" err="1"/>
              <a:t>Custom</a:t>
            </a:r>
            <a:r>
              <a:rPr lang="es-ES" sz="1050" b="1" dirty="0"/>
              <a:t>:</a:t>
            </a:r>
            <a:r>
              <a:rPr lang="es-ES" sz="1050" dirty="0"/>
              <a:t> Creación de un set de iconos vectoriales (SVG) diseñados exclusivamente para la firma. Cada área de práctica tendrá un símbolo minimalista y elegante que refuerce la especialización.</a:t>
            </a:r>
          </a:p>
          <a:p>
            <a:r>
              <a:rPr lang="es-ES" sz="1050" b="1" dirty="0"/>
              <a:t>3. Experiencia de Usuario (UI/UX) y Tecnología </a:t>
            </a:r>
            <a:r>
              <a:rPr lang="es-ES" sz="1050" b="1" dirty="0" err="1"/>
              <a:t>React</a:t>
            </a:r>
            <a:endParaRPr lang="es-ES" sz="1050" b="1" dirty="0"/>
          </a:p>
          <a:p>
            <a:r>
              <a:rPr lang="es-ES" sz="1050" dirty="0"/>
              <a:t>La transición a </a:t>
            </a:r>
            <a:r>
              <a:rPr lang="es-ES" sz="1050" b="1" dirty="0" err="1"/>
              <a:t>React</a:t>
            </a:r>
            <a:r>
              <a:rPr lang="es-ES" sz="1050" b="1" dirty="0"/>
              <a:t>/Next.js</a:t>
            </a:r>
            <a:r>
              <a:rPr lang="es-ES" sz="1050" dirty="0"/>
              <a:t> no es solo técnica, es estética. Permite </a:t>
            </a:r>
            <a:r>
              <a:rPr lang="es-ES" sz="1050" dirty="0" err="1"/>
              <a:t>micro-interacciones</a:t>
            </a:r>
            <a:r>
              <a:rPr lang="es-ES" sz="1050" dirty="0"/>
              <a:t> que WordPress no puede ofrecer:</a:t>
            </a:r>
          </a:p>
          <a:p>
            <a:r>
              <a:rPr lang="es-ES" sz="1050" b="1" dirty="0"/>
              <a:t>Transiciones Fluidas:</a:t>
            </a:r>
            <a:r>
              <a:rPr lang="es-ES" sz="1050" dirty="0"/>
              <a:t> Al navegar entre perfiles de abogados, la página no "parpadea" ni se recarga; fluye. Eso transmite una sensación de software de alta gama.</a:t>
            </a:r>
          </a:p>
          <a:p>
            <a:r>
              <a:rPr lang="es-ES" sz="1050" b="1" dirty="0"/>
              <a:t>Mobile-</a:t>
            </a:r>
            <a:r>
              <a:rPr lang="es-ES" sz="1050" b="1" dirty="0" err="1"/>
              <a:t>First</a:t>
            </a:r>
            <a:r>
              <a:rPr lang="es-ES" sz="1050" b="1" dirty="0"/>
              <a:t> Elite:</a:t>
            </a:r>
            <a:r>
              <a:rPr lang="es-ES" sz="1050" dirty="0"/>
              <a:t> La web se adaptará con precisión milimétrica a cualquier dispositivo, eliminando los errores de visualización actuales.</a:t>
            </a:r>
          </a:p>
        </p:txBody>
      </p:sp>
    </p:spTree>
    <p:extLst>
      <p:ext uri="{BB962C8B-B14F-4D97-AF65-F5344CB8AC3E}">
        <p14:creationId xmlns:p14="http://schemas.microsoft.com/office/powerpoint/2010/main" val="1154074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81CC1-5D7F-78A5-3A3D-38E831836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EB2149D-73E6-E0CF-7061-3FB689F9C145}"/>
              </a:ext>
            </a:extLst>
          </p:cNvPr>
          <p:cNvSpPr txBox="1"/>
          <p:nvPr/>
        </p:nvSpPr>
        <p:spPr>
          <a:xfrm>
            <a:off x="618067" y="610551"/>
            <a:ext cx="54779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Inversión para la Transformación Digital</a:t>
            </a:r>
          </a:p>
          <a:p>
            <a:r>
              <a:rPr lang="es-ES" sz="1050" dirty="0"/>
              <a:t>Propongo una reconstrucción total desde los cimientos técnicos hasta la psicología del diseño visual:</a:t>
            </a:r>
          </a:p>
          <a:p>
            <a:endParaRPr lang="es-ES" sz="105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3C3B846-390E-1BDD-34C2-E579EBC0E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320498"/>
              </p:ext>
            </p:extLst>
          </p:nvPr>
        </p:nvGraphicFramePr>
        <p:xfrm>
          <a:off x="618067" y="1489008"/>
          <a:ext cx="7941732" cy="387998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47244">
                  <a:extLst>
                    <a:ext uri="{9D8B030D-6E8A-4147-A177-3AD203B41FA5}">
                      <a16:colId xmlns:a16="http://schemas.microsoft.com/office/drawing/2014/main" val="572329585"/>
                    </a:ext>
                  </a:extLst>
                </a:gridCol>
                <a:gridCol w="2647244">
                  <a:extLst>
                    <a:ext uri="{9D8B030D-6E8A-4147-A177-3AD203B41FA5}">
                      <a16:colId xmlns:a16="http://schemas.microsoft.com/office/drawing/2014/main" val="2099246736"/>
                    </a:ext>
                  </a:extLst>
                </a:gridCol>
                <a:gridCol w="2647244">
                  <a:extLst>
                    <a:ext uri="{9D8B030D-6E8A-4147-A177-3AD203B41FA5}">
                      <a16:colId xmlns:a16="http://schemas.microsoft.com/office/drawing/2014/main" val="378580519"/>
                    </a:ext>
                  </a:extLst>
                </a:gridCol>
              </a:tblGrid>
              <a:tr h="403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effectLst/>
                        </a:rPr>
                        <a:t>Fase de Proyecto</a:t>
                      </a:r>
                      <a:endParaRPr lang="en-US" sz="1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Descripción del Entregable</a:t>
                      </a:r>
                      <a:endParaRPr lang="en-US" sz="1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Inversión (USD)</a:t>
                      </a:r>
                      <a:endParaRPr lang="en-US" sz="1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540255"/>
                  </a:ext>
                </a:extLst>
              </a:tr>
              <a:tr h="403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effectLst/>
                        </a:rPr>
                        <a:t>I. </a:t>
                      </a:r>
                      <a:r>
                        <a:rPr lang="en-US" sz="1000" b="1" dirty="0" err="1">
                          <a:effectLst/>
                        </a:rPr>
                        <a:t>Saneamiento</a:t>
                      </a:r>
                      <a:r>
                        <a:rPr lang="en-US" sz="1000" b="1" dirty="0">
                          <a:effectLst/>
                        </a:rPr>
                        <a:t> de </a:t>
                      </a:r>
                      <a:r>
                        <a:rPr lang="en-US" sz="1000" b="1" dirty="0" err="1">
                          <a:effectLst/>
                        </a:rPr>
                        <a:t>Infraestructura</a:t>
                      </a:r>
                      <a:endParaRPr lang="en-US" sz="1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effectLst/>
                        </a:rPr>
                        <a:t>Unificación de SSL, redirección www, clausura de subdominios pagmiami.com y limpieza de huella digital técnica.</a:t>
                      </a:r>
                      <a:endParaRPr lang="es-ES" sz="1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effectLst/>
                        </a:rPr>
                        <a:t>$3,500</a:t>
                      </a:r>
                      <a:endParaRPr lang="en-US" sz="1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949513"/>
                  </a:ext>
                </a:extLst>
              </a:tr>
              <a:tr h="543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 dirty="0">
                          <a:effectLst/>
                        </a:rPr>
                        <a:t>II. Diseño de Identidad Visual UI/UX</a:t>
                      </a:r>
                      <a:endParaRPr lang="es-ES" sz="1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dirty="0">
                          <a:effectLst/>
                        </a:rPr>
                        <a:t>Diseño de interfaz exclusiva en </a:t>
                      </a:r>
                      <a:r>
                        <a:rPr lang="es-ES" sz="1000" dirty="0" err="1">
                          <a:effectLst/>
                        </a:rPr>
                        <a:t>Figma</a:t>
                      </a:r>
                      <a:r>
                        <a:rPr lang="es-ES" sz="1000" dirty="0">
                          <a:effectLst/>
                        </a:rPr>
                        <a:t>. Creación de paleta cromática, tipografía premium y prototipo navegable de alta fidelidad.</a:t>
                      </a:r>
                      <a:endParaRPr lang="es-ES" sz="1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$4,500</a:t>
                      </a:r>
                      <a:endParaRPr lang="en-US" sz="1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361516"/>
                  </a:ext>
                </a:extLst>
              </a:tr>
              <a:tr h="677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>
                          <a:effectLst/>
                        </a:rPr>
                        <a:t>III. Producción de Activos Digitales</a:t>
                      </a:r>
                      <a:endParaRPr lang="es-ES" sz="1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Curaduría y edición de fotografía de alta resolución (Retina Ready). Creación de set de iconos vectoriales exclusivos (SVG).</a:t>
                      </a:r>
                      <a:endParaRPr lang="es-ES" sz="1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$2,500</a:t>
                      </a:r>
                      <a:endParaRPr lang="en-US" sz="1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98518"/>
                  </a:ext>
                </a:extLst>
              </a:tr>
              <a:tr h="651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IV. Ingeniería Headless (Next.js/React)</a:t>
                      </a:r>
                      <a:endParaRPr lang="en-US" sz="1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Desarrollo del sitio desde cero. Código limpio, ultra-rápido y con seguridad de grado bancario. Inmune a ataques comunes.</a:t>
                      </a:r>
                      <a:endParaRPr lang="es-ES" sz="1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effectLst/>
                        </a:rPr>
                        <a:t>$12,500</a:t>
                      </a:r>
                      <a:endParaRPr lang="en-US" sz="1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3292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V. Despliegue de SEO de Autoridad</a:t>
                      </a:r>
                      <a:endParaRPr lang="en-US" sz="1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>
                          <a:effectLst/>
                        </a:rPr>
                        <a:t>Configuración de metadatos (eliminando el guion -), arquitectura semántica y registro en Google Search Console.</a:t>
                      </a:r>
                      <a:endParaRPr lang="es-ES" sz="1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$2,000</a:t>
                      </a:r>
                      <a:endParaRPr lang="en-US" sz="1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526762"/>
                  </a:ext>
                </a:extLst>
              </a:tr>
              <a:tr h="50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TOTAL INVERSIÓN</a:t>
                      </a:r>
                      <a:endParaRPr lang="en-US" sz="1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00" b="1">
                          <a:effectLst/>
                        </a:rPr>
                        <a:t>Transformación de Activos Digitales de MMH Law</a:t>
                      </a:r>
                      <a:endParaRPr lang="es-ES" sz="1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effectLst/>
                        </a:rPr>
                        <a:t>$25,000</a:t>
                      </a:r>
                      <a:endParaRPr lang="en-US" sz="1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91011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A5DEEBD-6BC1-4698-4BC0-B8043A8D0B05}"/>
              </a:ext>
            </a:extLst>
          </p:cNvPr>
          <p:cNvSpPr txBox="1"/>
          <p:nvPr/>
        </p:nvSpPr>
        <p:spPr>
          <a:xfrm>
            <a:off x="7112001" y="610551"/>
            <a:ext cx="4461932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/>
              <a:t>¿Por qué este presupuesto?</a:t>
            </a:r>
          </a:p>
          <a:p>
            <a:r>
              <a:rPr lang="es-ES" sz="1050" dirty="0"/>
              <a:t>No les estoy vendiendo una "página web". Les estoy entregando una </a:t>
            </a:r>
            <a:r>
              <a:rPr lang="es-ES" sz="1050" b="1" dirty="0"/>
              <a:t>Herramienta de Prestigio</a:t>
            </a:r>
            <a:r>
              <a:rPr lang="es-ES" sz="1050" dirty="0"/>
              <a:t>. Una firma que factura millones en defensa de seguros y aviación no puede permitirse un sitio web que cueste menos que uno de sus honorarios por hora de un socio principal. Este precio garantiza exclusividad, soporte de alto nivel y una tecnología que no necesitará ser cambiada en los próximos 8-10 años.</a:t>
            </a:r>
          </a:p>
          <a:p>
            <a:r>
              <a:rPr lang="es-ES" sz="1050" b="1" dirty="0"/>
              <a:t>Conclusión:</a:t>
            </a:r>
            <a:r>
              <a:rPr lang="es-ES" sz="1050" dirty="0"/>
              <a:t> La pregunta para la firma no es si pueden costear este cambio, sino </a:t>
            </a:r>
            <a:r>
              <a:rPr lang="es-ES" sz="1050" b="1" dirty="0"/>
              <a:t>cuánto dinero están perdiendo cada vez que un cliente potencial entra en su sitio actual y ve una advertencia de seguridad o una imagen borrosa.</a:t>
            </a:r>
            <a:endParaRPr lang="es-ES" sz="1050" dirty="0"/>
          </a:p>
          <a:p>
            <a:r>
              <a:rPr lang="es-ES" sz="1050" dirty="0"/>
              <a:t>Quedo a la espera de su confirmación para iniciar el proceso de recuperación de su imagen digital.</a:t>
            </a:r>
          </a:p>
          <a:p>
            <a:r>
              <a:rPr lang="es-ES" sz="1050" dirty="0"/>
              <a:t>Atentamente,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4FF2F-5883-B9FD-5E5E-6805B4055882}"/>
              </a:ext>
            </a:extLst>
          </p:cNvPr>
          <p:cNvSpPr txBox="1"/>
          <p:nvPr/>
        </p:nvSpPr>
        <p:spPr>
          <a:xfrm>
            <a:off x="7112001" y="3040484"/>
            <a:ext cx="44619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 err="1"/>
              <a:t>Timepo</a:t>
            </a:r>
            <a:r>
              <a:rPr lang="es-ES" sz="1050" b="1" dirty="0"/>
              <a:t> estimado de entrega máximo 45 </a:t>
            </a:r>
            <a:r>
              <a:rPr lang="es-ES" sz="1050" b="1" dirty="0" err="1"/>
              <a:t>dias</a:t>
            </a:r>
            <a:endParaRPr lang="es-ES" sz="1050" dirty="0"/>
          </a:p>
        </p:txBody>
      </p:sp>
    </p:spTree>
    <p:extLst>
      <p:ext uri="{BB962C8B-B14F-4D97-AF65-F5344CB8AC3E}">
        <p14:creationId xmlns:p14="http://schemas.microsoft.com/office/powerpoint/2010/main" val="1921257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1192</Words>
  <Application>Microsoft Office PowerPoint</Application>
  <PresentationFormat>Widescreen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Google Sans Text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Pietro Giordano</dc:creator>
  <cp:lastModifiedBy>Pietro Giordano</cp:lastModifiedBy>
  <cp:revision>2</cp:revision>
  <dcterms:created xsi:type="dcterms:W3CDTF">2026-03-20T16:55:49Z</dcterms:created>
  <dcterms:modified xsi:type="dcterms:W3CDTF">2026-03-20T17:09:40Z</dcterms:modified>
</cp:coreProperties>
</file>